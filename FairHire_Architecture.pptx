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FairHire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0CAF9"/>
                </a:solidFill>
              </a:defRPr>
            </a:pPr>
            <a:r>
              <a:t>Multi-Agent AI Hiring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MCP  |  A2A  |  Django  |  React  |  Celery  |  Docker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38912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5-Agent AI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38912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Responsible AI (Bias Auditing)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38912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MCP &amp; A2A Protocols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Full Interview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02920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AI Offer Letters &amp;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2377440" cy="457200"/>
          </a:xfrm>
          <a:prstGeom prst="roundRect">
            <a:avLst/>
          </a:prstGeom>
          <a:solidFill>
            <a:srgbClr val="25305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BDEFB"/>
                </a:solidFill>
              </a:defRPr>
            </a:pPr>
            <a:r>
              <a:t>Token Auth + MFA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Technical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8 Docker services  |  5 AI agents  |  2 protocol servers  |  14 data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05840"/>
          </a:xfrm>
          <a:prstGeom prst="roundRect">
            <a:avLst/>
          </a:prstGeom>
          <a:solidFill>
            <a:srgbClr val="E6F3FF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A0"/>
                </a:solidFill>
              </a:defRPr>
            </a:pPr>
            <a:r>
              <a:t>FRONTEND  |  React 18 + TypeScript  |  Port 3047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Dashboard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Stats &amp;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Candidates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Upload &amp; 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Jobs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Positions &amp; Depts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Interviews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AI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Offers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AI Letters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Fairness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Bias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Auth &amp; RBAC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MFA +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64592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Portal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Candidate Self-Svc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47120" cy="10058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BACKEND API  |  Django 5.2 + DRF  |  Gunicorn  |  Port 8046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Auth System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Token + Session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TOTP MFA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2848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REST ViewSets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11 Endpoints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CRUD +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5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Notifications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Email Service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Workflow Triggers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Signals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Auto-Interviews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Panel Assignment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14 Models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28 Stage Pipeline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Offer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9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Serializers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List/Detail/Create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Computed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76688" y="2926080"/>
            <a:ext cx="1417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Activity Log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11 Event Types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Full Audit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6858000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5100"/>
                </a:solidFill>
              </a:defRPr>
            </a:pPr>
            <a:r>
              <a:t>AI AGENT PIPELINE  |  5 Agents + Orchestrator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1005840" cy="4572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Orchestrator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206240"/>
            <a:ext cx="98755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1. Parser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Resume Extract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1" y="4206240"/>
            <a:ext cx="98755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2. Guardrails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Policy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3" y="4206240"/>
            <a:ext cx="98755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3. Scorer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Rubric Eval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4206240"/>
            <a:ext cx="98755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4. Summarizer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Recommendation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206240"/>
            <a:ext cx="98755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5. Bias Auditor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Fairness Probes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800600"/>
            <a:ext cx="1645920" cy="3200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AI Interview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Questions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800600"/>
            <a:ext cx="1645920" cy="3200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AI Offer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Letters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800600"/>
            <a:ext cx="1645920" cy="3200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PII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Redaction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840480"/>
            <a:ext cx="4114800" cy="13716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7724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1FA2"/>
                </a:solidFill>
              </a:defRPr>
            </a:pPr>
            <a:r>
              <a:t>PROTOCOL SERVERS  |  Agent Interoperability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251960"/>
            <a:ext cx="1828800" cy="868680"/>
          </a:xfrm>
          <a:prstGeom prst="roundRect">
            <a:avLst/>
          </a:prstGeom>
          <a:solidFill>
            <a:srgbClr val="CE93D8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MCP Server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Port 8146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8 Tools Exposed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JSON-RPC Transport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0" y="4251960"/>
            <a:ext cx="1828800" cy="868680"/>
          </a:xfrm>
          <a:prstGeom prst="roundRect">
            <a:avLst/>
          </a:prstGeom>
          <a:solidFill>
            <a:srgbClr val="CE93D8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A2A Server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Port 8246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6 Agent Cards</a:t>
            </a:r>
          </a:p>
          <a:p>
            <a:pPr algn="ctr">
              <a:defRPr sz="800" b="0">
                <a:solidFill>
                  <a:srgbClr val="1A1A2E"/>
                </a:solidFill>
              </a:defRPr>
            </a:pPr>
            <a:r>
              <a:t>Agent Discovery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</a:defRPr>
            </a:pPr>
            <a:r>
              <a:t>DATA &amp; INFRASTRUCTURE  |  Docker Compose (8 services)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PostgreSQL 16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Port 5446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14 Tables + Auth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2848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Redis 7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Port 6346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Broker + Cache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85615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Celery Workers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4 Concurrent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2 Queues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58384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Celery Beat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Scheduled Tasks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DB Scheduler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1152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Media Volume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Resumes &amp; Photos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Generated Files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19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LLM API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OpenAI Compatible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gpt-4o-mini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76688" y="58521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Email / SMTP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Console (dev)</a:t>
            </a:r>
          </a:p>
          <a:p>
            <a:pPr algn="ctr">
              <a:defRPr sz="700" b="0">
                <a:solidFill>
                  <a:srgbClr val="1A1A2E"/>
                </a:solidFill>
              </a:defRPr>
            </a:pPr>
            <a:r>
              <a:t>SMTP (prod)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Candidate Evaluation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End-to-end automated hiring with human oversight at critical decision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51560" cy="914400"/>
          </a:xfrm>
          <a:prstGeom prst="roundRect">
            <a:avLst/>
          </a:prstGeom>
          <a:solidFill>
            <a:srgbClr val="E6F3FF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1. Upload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Resume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PDF/DOCX/TXT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7048" y="1371600"/>
            <a:ext cx="105156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2. Parse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AI extracts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skills, exp, edu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88336" y="1371600"/>
            <a:ext cx="105156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3. Guardrails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Policy checks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exp/skills/edu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9624" y="1371600"/>
            <a:ext cx="105156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4. Score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Rubric eval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weighted 0-1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0912" y="1371600"/>
            <a:ext cx="105156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5. Summarize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Pros/cons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105156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6. Bias Audit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Name swap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proxy flip, PII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371600"/>
            <a:ext cx="10515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7. Review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Human decision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accept/reject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94776" y="1371600"/>
            <a:ext cx="1051560" cy="914400"/>
          </a:xfrm>
          <a:prstGeom prst="roundRect">
            <a:avLst/>
          </a:prstGeom>
          <a:solidFill>
            <a:srgbClr val="E6F3FF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8. Interview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AI questions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panel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6064" y="1371600"/>
            <a:ext cx="1051560" cy="9144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9. Offer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AI letter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approval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17352" y="1371600"/>
            <a:ext cx="105156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10. Hired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Finalized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email notified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Responsible AI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Name Swap Probes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Swap candidate names across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demographics, compare scores.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Detects name-based bias.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004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Proxy Flip Probes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Flip proxy attributes (school,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location, hobbies). Detect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indirect discrimination.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004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Adversarial Testing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Inject prompt manipulation in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resumes. Ensure agents resist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gaming attempts.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PII Redaction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Redact personal identifiers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before scoring. Enable blind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evaluation process.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5720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Score Differential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Track deltas between probes.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Flag candidates with &gt;10%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score variation.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572000"/>
            <a:ext cx="356616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Audit Dashboard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Visual fairness metrics.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Per-job bias reports.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Complete audit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411480"/>
          </a:xfrm>
          <a:prstGeom prst="roundRect">
            <a:avLst/>
          </a:prstGeom>
          <a:solidFill>
            <a:srgbClr val="1A56A0"/>
          </a:solidFill>
          <a:ln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3566160" cy="2011680"/>
          </a:xfrm>
          <a:prstGeom prst="roundRect">
            <a:avLst/>
          </a:prstGeom>
          <a:solidFill>
            <a:srgbClr val="E6F3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React 18 + TypeScript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React Router 6 (SPA)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Axios (HTTP client)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Recharts (data viz)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Lucide (icons)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CSS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566160" cy="4114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08760"/>
            <a:ext cx="3566160" cy="2011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Django 5.2 + DRF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Gunicorn WSGI server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Django Filter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Django CORS Headers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Token + Session Auth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TOTP MFA (pyotp)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566160" cy="41148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&amp;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08760"/>
            <a:ext cx="3566160" cy="2011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OpenAI API (gpt-4o-mini)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5 Specialized Agents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Orchestrator Pipeline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tiktoken (token count)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PII Redaction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Bias Probe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566160" cy="41148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Protocols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60"/>
            <a:ext cx="3566160" cy="20116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MCP (Model Context Protocol)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A2A (Agent-to-Agent)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JSON-RPC Transport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Agent Discovery Cards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8 MCP Tools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6 A2A Agent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840480"/>
            <a:ext cx="3566160" cy="41148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51960"/>
            <a:ext cx="3566160" cy="20116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Docker Compose (8 svcs)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PostgreSQL 16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Redis 7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Celery 5.4 + Beat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SMTP Email Service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Volume 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40480"/>
            <a:ext cx="3566160" cy="411480"/>
          </a:xfrm>
          <a:prstGeom prst="roundRect">
            <a:avLst/>
          </a:prstGeom>
          <a:solidFill>
            <a:srgbClr val="F57F17"/>
          </a:solidFill>
          <a:ln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51960"/>
            <a:ext cx="3566160" cy="20116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PyPDF2 (PDF parsing)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python-docx (DOCX)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Pillow (images)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Resume text extraction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Profile picture upload</a:t>
            </a:r>
          </a:p>
          <a:p>
            <a:pPr algn="l">
              <a:defRPr sz="1100" b="0">
                <a:solidFill>
                  <a:srgbClr val="1A1A2E"/>
                </a:solidFill>
              </a:defRPr>
            </a:pPr>
            <a:r>
              <a:t>  Offer letter download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Docker Architecture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8 containerized services on a shared Docker network (fairhire-net)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365760"/>
          </a:xfrm>
          <a:prstGeom prst="roundRect">
            <a:avLst/>
          </a:prstGeom>
          <a:solidFill>
            <a:srgbClr val="1A56A0"/>
          </a:solidFill>
          <a:ln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97480" cy="822960"/>
          </a:xfrm>
          <a:prstGeom prst="roundRect">
            <a:avLst/>
          </a:prstGeom>
          <a:solidFill>
            <a:srgbClr val="E6F3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React 18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react-scripts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3047:3000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Web UI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Dev server w/ proxy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Hot reload (src/ mounted)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97480" cy="3657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9748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Django 5.2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Gunicorn (4 workers)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8046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REST API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40+ endpoints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Auth, models,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697480" cy="36576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Celery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26974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Celery 5.4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4 concurrent workers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Queues: default,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6032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Async AI pipeline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Resume evaluation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Bulk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697480" cy="36576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Celery Beat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6974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Celery Beat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DB Scheduler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Periodic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Scheduled jobs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Offer expiry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Cleanup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2697480" cy="36576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MCP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26974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Django management cmd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JSON-RPC / HTTP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8146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Model Context Protocol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8 tools exposed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External AI integrations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931920"/>
            <a:ext cx="2697480" cy="36576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A2A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297680"/>
            <a:ext cx="26974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Django management cmd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HTTP transport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8246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512064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Agent-to-Agent Protocol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6 agent cards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Agent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2697480" cy="36576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97680"/>
            <a:ext cx="2697480" cy="82296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postgres:16-alpine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5446:5432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Volume: pgdata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12064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Primary database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14+ tables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UUID primary keys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697480" cy="36576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297680"/>
            <a:ext cx="2697480" cy="82296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redis:7-alpine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Port 6346:6379</a:t>
            </a:r>
          </a:p>
          <a:p>
            <a:pPr algn="l">
              <a:defRPr sz="900" b="0">
                <a:solidFill>
                  <a:srgbClr val="1A1A2E"/>
                </a:solidFill>
              </a:defRPr>
            </a:pPr>
            <a:r>
              <a:t>Health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5120640"/>
            <a:ext cx="2697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Celery broker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Task results cache</a:t>
            </a:r>
          </a:p>
          <a:p>
            <a:pPr algn="l">
              <a:defRPr sz="900" b="0">
                <a:solidFill>
                  <a:srgbClr val="666666"/>
                </a:solidFill>
              </a:defRPr>
            </a:pPr>
            <a:r>
              <a:t>Session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